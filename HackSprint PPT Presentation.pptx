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SemiBold-italic.fntdata"/><Relationship Id="rId14" Type="http://schemas.openxmlformats.org/officeDocument/2006/relationships/font" Target="fonts/PlayfairDisplaySemiBold-bold.fntdata"/><Relationship Id="rId17" Type="http://customschemas.google.com/relationships/presentationmetadata" Target="metadata"/><Relationship Id="rId16" Type="http://schemas.openxmlformats.org/officeDocument/2006/relationships/font" Target="fonts/PlayfairDispl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9" Type="http://schemas.openxmlformats.org/officeDocument/2006/relationships/image" Target="../media/image2.png"/><Relationship Id="rId15" Type="http://schemas.openxmlformats.org/officeDocument/2006/relationships/image" Target="../media/image16.png"/><Relationship Id="rId14" Type="http://schemas.openxmlformats.org/officeDocument/2006/relationships/image" Target="../media/image7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18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10" Type="http://schemas.openxmlformats.org/officeDocument/2006/relationships/image" Target="../media/image17.jpg"/><Relationship Id="rId11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20519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YOUR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2001" name="tb"/>
          <p:cNvSpPr txBox="1"/>
          <p:nvPr/>
        </p:nvSpPr>
        <p:spPr>
          <a:xfrm>
            <a:off x="1028700" y="2893175"/>
            <a:ext cx="16230600" cy="6893825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2600" b="1" i="0">
                <a:solidFill>
                  <a:srgbClr val="1A1A1A"/>
                </a:solidFill>
                <a:latin typeface="Calibri"/>
              </a:rPr>
              <a:t>Git blame and git revert — for AI agent memory.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>
                <a:solidFill>
                  <a:srgbClr val="4D4D4D"/>
                </a:solidFill>
                <a:latin typeface="Calibri"/>
              </a:rPr>
              <a:t>Agents that remember things across sessions can be poisoned: a malicious email or webpage plants a fact in memory today, and the agent acts on it days later with no human in the loop. Sentinel treats agent memory like a version-controlled ledger — every memory is hash-chained, trust-tiered, and traceable back to its source.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200" b="0" i="0">
                <a:solidFill>
                  <a:srgbClr val="1A1A1A"/>
                </a:solidFill>
                <a:latin typeface="Calibri"/>
              </a:rPr>
              <a:t>Memories are tiered 0–2 by trust; a derived memory inherits the lowest tier of its lineage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200" b="0" i="0">
                <a:solidFill>
                  <a:srgbClr val="1A1A1A"/>
                </a:solidFill>
                <a:latin typeface="Calibri"/>
              </a:rPr>
              <a:t>Unsafe writes are blocked at save time; unsafe actions are caught at use time, which is where real attacks actually hide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200" b="0" i="0">
                <a:solidFill>
                  <a:srgbClr val="1A1A1A"/>
                </a:solidFill>
                <a:latin typeface="Calibri"/>
              </a:rPr>
              <a:t>Counterfactual replay assigns a blame score to the exact memory that caused a risky action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200" b="0" i="0">
                <a:solidFill>
                  <a:srgbClr val="1A1A1A"/>
                </a:solidFill>
                <a:latin typeface="Calibri"/>
              </a:rPr>
              <a:t>Quarantine or roll back the poisoned memory without losing anything else — nothing is ever deleted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2002" name="tb"/>
          <p:cNvSpPr txBox="1"/>
          <p:nvPr/>
        </p:nvSpPr>
        <p:spPr>
          <a:xfrm>
            <a:off x="1028700" y="2893175"/>
            <a:ext cx="7915300" cy="6893825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b="1" i="0">
                <a:solidFill>
                  <a:srgbClr val="1A1A1A"/>
                </a:solidFill>
                <a:latin typeface="Times"/>
              </a:rPr>
              <a:t>Tech Stack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300" b="0" i="0">
                <a:solidFill>
                  <a:srgbClr val="1A1A1A"/>
                </a:solidFill>
                <a:latin typeface="Calibri"/>
              </a:rPr>
              <a:t>Python 3.11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300" b="0" i="0">
                <a:solidFill>
                  <a:srgbClr val="1A1A1A"/>
                </a:solidFill>
                <a:latin typeface="Calibri"/>
              </a:rPr>
              <a:t>FastAPI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300" b="0" i="0">
                <a:solidFill>
                  <a:srgbClr val="1A1A1A"/>
                </a:solidFill>
                <a:latin typeface="Calibri"/>
              </a:rPr>
              <a:t>SQLite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300" b="0" i="0">
                <a:solidFill>
                  <a:srgbClr val="1A1A1A"/>
                </a:solidFill>
                <a:latin typeface="Calibri"/>
              </a:rPr>
              <a:t>NetworkX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300" b="0" i="0">
                <a:solidFill>
                  <a:srgbClr val="1A1A1A"/>
                </a:solidFill>
                <a:latin typeface="Calibri"/>
              </a:rPr>
              <a:t>React + Vite</a:t>
            </a:r>
          </a:p>
        </p:txBody>
      </p:sp>
      <p:sp>
        <p:nvSpPr>
          <p:cNvPr id="2003" name="tb"/>
          <p:cNvSpPr txBox="1"/>
          <p:nvPr/>
        </p:nvSpPr>
        <p:spPr>
          <a:xfrm>
            <a:off x="9344000" y="2893175"/>
            <a:ext cx="7915300" cy="6893825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b="1" i="0">
                <a:solidFill>
                  <a:srgbClr val="1A1A1A"/>
                </a:solidFill>
                <a:latin typeface="Times"/>
              </a:rPr>
              <a:t>Architecture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b="0" i="0">
                <a:solidFill>
                  <a:srgbClr val="1A1A1A"/>
                </a:solidFill>
                <a:latin typeface="Calibri"/>
              </a:rPr>
              <a:t>ledger.py — hash-chained SQLite store, tamper detection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b="0" i="0">
                <a:solidFill>
                  <a:srgbClr val="1A1A1A"/>
                </a:solidFill>
                <a:latin typeface="Calibri"/>
              </a:rPr>
              <a:t>trust.py — trust-tier lineage via NetworkX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b="0" i="0">
                <a:solidFill>
                  <a:srgbClr val="1A1A1A"/>
                </a:solidFill>
                <a:latin typeface="Calibri"/>
              </a:rPr>
              <a:t>gate.py — write-time policy, blocks risky writes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b="0" i="0">
                <a:solidFill>
                  <a:srgbClr val="1A1A1A"/>
                </a:solidFill>
                <a:latin typeface="Calibri"/>
              </a:rPr>
              <a:t>memory.py — retrieval, fences untrusted content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b="0" i="0">
                <a:solidFill>
                  <a:srgbClr val="1A1A1A"/>
                </a:solidFill>
                <a:latin typeface="Calibri"/>
              </a:rPr>
              <a:t>taint.py — use-time check, pure code, no LLM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b="0" i="0">
                <a:solidFill>
                  <a:srgbClr val="1A1A1A"/>
                </a:solidFill>
                <a:latin typeface="Calibri"/>
              </a:rPr>
              <a:t>replay.py — counterfactual blame scoring</a:t>
            </a: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b="0" i="0">
                <a:solidFill>
                  <a:srgbClr val="1A1A1A"/>
                </a:solidFill>
                <a:latin typeface="Calibri"/>
              </a:rPr>
              <a:t>agent.py + api.py — chat loop and FastAPI routes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4" name="title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System Architecture</a:t>
            </a:r>
            <a:endParaRPr/>
          </a:p>
        </p:txBody>
      </p:sp>
      <p:sp>
        <p:nvSpPr>
          <p:cNvPr id="2005" name="box"/>
          <p:cNvSpPr/>
          <p:nvPr/>
        </p:nvSpPr>
        <p:spPr>
          <a:xfrm>
            <a:off x="4444000" y="2893175"/>
            <a:ext cx="9400000" cy="8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300" b="1" i="0">
                <a:solidFill>
                  <a:srgbClr val="1A1A1A"/>
                </a:solidFill>
                <a:latin typeface="Calibri"/>
              </a:rPr>
              <a:t>Ingest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Email / URL / user input — write gate checks kind + tier before saving</a:t>
            </a:r>
          </a:p>
        </p:txBody>
      </p:sp>
      <p:sp>
        <p:nvSpPr>
          <p:cNvPr id="2006" name="arrow"/>
          <p:cNvSpPr txBox="1"/>
          <p:nvPr/>
        </p:nvSpPr>
        <p:spPr>
          <a:xfrm>
            <a:off x="4444000" y="3713175"/>
            <a:ext cx="9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↓</a:t>
            </a:r>
          </a:p>
        </p:txBody>
      </p:sp>
      <p:sp>
        <p:nvSpPr>
          <p:cNvPr id="2007" name="box"/>
          <p:cNvSpPr/>
          <p:nvPr/>
        </p:nvSpPr>
        <p:spPr>
          <a:xfrm>
            <a:off x="4444000" y="3973175"/>
            <a:ext cx="9400000" cy="8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300" b="1" i="0">
                <a:solidFill>
                  <a:srgbClr val="1A1A1A"/>
                </a:solidFill>
                <a:latin typeface="Calibri"/>
              </a:rPr>
              <a:t>Ledger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Hash-chained SQLite store; trust-tier lineage tracked with NetworkX</a:t>
            </a:r>
          </a:p>
        </p:txBody>
      </p:sp>
      <p:sp>
        <p:nvSpPr>
          <p:cNvPr id="2008" name="arrow"/>
          <p:cNvSpPr txBox="1"/>
          <p:nvPr/>
        </p:nvSpPr>
        <p:spPr>
          <a:xfrm>
            <a:off x="4444000" y="4793175"/>
            <a:ext cx="9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↓</a:t>
            </a:r>
          </a:p>
        </p:txBody>
      </p:sp>
      <p:sp>
        <p:nvSpPr>
          <p:cNvPr id="2009" name="box"/>
          <p:cNvSpPr/>
          <p:nvPr/>
        </p:nvSpPr>
        <p:spPr>
          <a:xfrm>
            <a:off x="4444000" y="5053175"/>
            <a:ext cx="9400000" cy="8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300" b="1" i="0">
                <a:solidFill>
                  <a:srgbClr val="1A1A1A"/>
                </a:solidFill>
                <a:latin typeface="Calibri"/>
              </a:rPr>
              <a:t>Agent Loop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Retrieve (tier-2 content fenced) → plan with LLM backend</a:t>
            </a:r>
          </a:p>
        </p:txBody>
      </p:sp>
      <p:sp>
        <p:nvSpPr>
          <p:cNvPr id="2010" name="arrow"/>
          <p:cNvSpPr txBox="1"/>
          <p:nvPr/>
        </p:nvSpPr>
        <p:spPr>
          <a:xfrm>
            <a:off x="4444000" y="5873175"/>
            <a:ext cx="9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↓</a:t>
            </a:r>
          </a:p>
        </p:txBody>
      </p:sp>
      <p:sp>
        <p:nvSpPr>
          <p:cNvPr id="2011" name="box"/>
          <p:cNvSpPr/>
          <p:nvPr/>
        </p:nvSpPr>
        <p:spPr>
          <a:xfrm>
            <a:off x="4444000" y="6133175"/>
            <a:ext cx="9400000" cy="8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300" b="1" i="0">
                <a:solidFill>
                  <a:srgbClr val="1A1A1A"/>
                </a:solidFill>
                <a:latin typeface="Calibri"/>
              </a:rPr>
              <a:t>Taint + Replay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Risky call traced to tier-2 memory? Pause it and run counterfactual blame</a:t>
            </a:r>
          </a:p>
        </p:txBody>
      </p:sp>
      <p:sp>
        <p:nvSpPr>
          <p:cNvPr id="2012" name="arrow"/>
          <p:cNvSpPr txBox="1"/>
          <p:nvPr/>
        </p:nvSpPr>
        <p:spPr>
          <a:xfrm>
            <a:off x="4444000" y="6953175"/>
            <a:ext cx="9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↓</a:t>
            </a:r>
          </a:p>
        </p:txBody>
      </p:sp>
      <p:sp>
        <p:nvSpPr>
          <p:cNvPr id="2013" name="box"/>
          <p:cNvSpPr/>
          <p:nvPr/>
        </p:nvSpPr>
        <p:spPr>
          <a:xfrm>
            <a:off x="4444000" y="7213175"/>
            <a:ext cx="9400000" cy="8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300" b="1" i="0">
                <a:solidFill>
                  <a:srgbClr val="1A1A1A"/>
                </a:solidFill>
                <a:latin typeface="Calibri"/>
              </a:rPr>
              <a:t>API + UI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FastAPI exposes chat, graph, review queue, quarantine and rollback to the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sp>
        <p:nvSpPr>
          <p:cNvPr id="2014" name="box"/>
          <p:cNvSpPr/>
          <p:nvPr/>
        </p:nvSpPr>
        <p:spPr>
          <a:xfrm>
            <a:off x="1028700" y="2893175"/>
            <a:ext cx="3046120" cy="23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100" b="1" i="0">
                <a:solidFill>
                  <a:srgbClr val="1A1A1A"/>
                </a:solidFill>
                <a:latin typeface="Calibri"/>
              </a:rPr>
              <a:t>Day 1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>
                <a:solidFill>
                  <a:srgbClr val="4D4D4D"/>
                </a:solidFill>
                <a:latin typeface="Calibri"/>
              </a:rPr>
              <a:t>Poisoned email ingested; saved as a tier-2 FACT (gate lets facts through)</a:t>
            </a:r>
          </a:p>
        </p:txBody>
      </p:sp>
      <p:sp>
        <p:nvSpPr>
          <p:cNvPr id="2015" name="arrow"/>
          <p:cNvSpPr txBox="1"/>
          <p:nvPr/>
        </p:nvSpPr>
        <p:spPr>
          <a:xfrm>
            <a:off x="4074820" y="3893175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→</a:t>
            </a:r>
          </a:p>
        </p:txBody>
      </p:sp>
      <p:sp>
        <p:nvSpPr>
          <p:cNvPr id="2016" name="box"/>
          <p:cNvSpPr/>
          <p:nvPr/>
        </p:nvSpPr>
        <p:spPr>
          <a:xfrm>
            <a:off x="4324820" y="2893175"/>
            <a:ext cx="3046120" cy="23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100" b="1" i="0">
                <a:solidFill>
                  <a:srgbClr val="1A1A1A"/>
                </a:solidFill>
                <a:latin typeface="Calibri"/>
              </a:rPr>
              <a:t>Day 5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>
                <a:solidFill>
                  <a:srgbClr val="4D4D4D"/>
                </a:solidFill>
                <a:latin typeface="Calibri"/>
              </a:rPr>
              <a:t>User asks the agent to send an invoice</a:t>
            </a:r>
          </a:p>
        </p:txBody>
      </p:sp>
      <p:sp>
        <p:nvSpPr>
          <p:cNvPr id="2017" name="arrow"/>
          <p:cNvSpPr txBox="1"/>
          <p:nvPr/>
        </p:nvSpPr>
        <p:spPr>
          <a:xfrm>
            <a:off x="7370940" y="3893175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→</a:t>
            </a:r>
          </a:p>
        </p:txBody>
      </p:sp>
      <p:sp>
        <p:nvSpPr>
          <p:cNvPr id="2018" name="box"/>
          <p:cNvSpPr/>
          <p:nvPr/>
        </p:nvSpPr>
        <p:spPr>
          <a:xfrm>
            <a:off x="7620940" y="2893175"/>
            <a:ext cx="3046120" cy="23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100" b="1" i="0">
                <a:solidFill>
                  <a:srgbClr val="1A1A1A"/>
                </a:solidFill>
                <a:latin typeface="Calibri"/>
              </a:rPr>
              <a:t>Retrieve + Plan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>
                <a:solidFill>
                  <a:srgbClr val="4D4D4D"/>
                </a:solidFill>
                <a:latin typeface="Calibri"/>
              </a:rPr>
              <a:t>Agent retrieves memory, tier-2 content fenced, LLM plans a send_email call</a:t>
            </a:r>
          </a:p>
        </p:txBody>
      </p:sp>
      <p:sp>
        <p:nvSpPr>
          <p:cNvPr id="2019" name="arrow"/>
          <p:cNvSpPr txBox="1"/>
          <p:nvPr/>
        </p:nvSpPr>
        <p:spPr>
          <a:xfrm>
            <a:off x="10667060" y="3893175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→</a:t>
            </a:r>
          </a:p>
        </p:txBody>
      </p:sp>
      <p:sp>
        <p:nvSpPr>
          <p:cNvPr id="2020" name="box"/>
          <p:cNvSpPr/>
          <p:nvPr/>
        </p:nvSpPr>
        <p:spPr>
          <a:xfrm>
            <a:off x="10917060" y="2893175"/>
            <a:ext cx="3046120" cy="23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100" b="1" i="0">
                <a:solidFill>
                  <a:srgbClr val="1A1A1A"/>
                </a:solidFill>
                <a:latin typeface="Calibri"/>
              </a:rPr>
              <a:t>Taint Check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>
                <a:solidFill>
                  <a:srgbClr val="4D4D4D"/>
                </a:solidFill>
                <a:latin typeface="Calibri"/>
              </a:rPr>
              <a:t>Does the recipient trace back to a tier-2 memory retrieved this turn?</a:t>
            </a:r>
          </a:p>
        </p:txBody>
      </p:sp>
      <p:sp>
        <p:nvSpPr>
          <p:cNvPr id="2021" name="arrow"/>
          <p:cNvSpPr txBox="1"/>
          <p:nvPr/>
        </p:nvSpPr>
        <p:spPr>
          <a:xfrm>
            <a:off x="13963180" y="3893175"/>
            <a:ext cx="250000" cy="30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5DE0E6"/>
                </a:solidFill>
                <a:latin typeface="Calibri"/>
              </a:rPr>
              <a:t>→</a:t>
            </a:r>
          </a:p>
        </p:txBody>
      </p:sp>
      <p:sp>
        <p:nvSpPr>
          <p:cNvPr id="2022" name="box"/>
          <p:cNvSpPr/>
          <p:nvPr/>
        </p:nvSpPr>
        <p:spPr>
          <a:xfrm>
            <a:off x="14213180" y="2893175"/>
            <a:ext cx="3046120" cy="1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261E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>
                <a:solidFill>
                  <a:srgbClr val="1A1A1A"/>
                </a:solidFill>
                <a:latin typeface="Calibri"/>
              </a:rPr>
              <a:t>PLAIN: EXECUTED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4D4D4D"/>
                </a:solidFill>
                <a:latin typeface="Calibri"/>
              </a:rPr>
              <a:t>Leaks to attacker@evil.com, no check</a:t>
            </a:r>
          </a:p>
        </p:txBody>
      </p:sp>
      <p:sp>
        <p:nvSpPr>
          <p:cNvPr id="2023" name="box"/>
          <p:cNvSpPr/>
          <p:nvPr/>
        </p:nvSpPr>
        <p:spPr>
          <a:xfrm>
            <a:off x="14213180" y="4143175"/>
            <a:ext cx="3046120" cy="1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E7F6B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>
                <a:solidFill>
                  <a:srgbClr val="1A1A1A"/>
                </a:solidFill>
                <a:latin typeface="Calibri"/>
              </a:rPr>
              <a:t>SENTINEL: PAUSED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4D4D4D"/>
                </a:solidFill>
                <a:latin typeface="Calibri"/>
              </a:rPr>
              <a:t>pending_approval, blame 1.00 on the poisoned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pic>
        <p:nvPicPr>
          <p:cNvPr id="2024" name="shot1"/>
          <p:cNvPicPr preferRelativeResize="0"/>
          <p:nvPr/>
        </p:nvPicPr>
        <p:blipFill rotWithShape="1">
          <a:blip r:embed="rId10">
            <a:alphaModFix/>
          </a:blip>
          <a:stretch>
            <a:fillRect/>
          </a:stretch>
        </p:blipFill>
        <p:spPr>
          <a:xfrm>
            <a:off x="1028700" y="2610101"/>
            <a:ext cx="7915300" cy="3861737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025" name="shot2"/>
          <p:cNvPicPr preferRelativeResize="0"/>
          <p:nvPr/>
        </p:nvPicPr>
        <p:blipFill rotWithShape="1">
          <a:blip r:embed="rId11">
            <a:alphaModFix/>
          </a:blip>
          <a:stretch>
            <a:fillRect/>
          </a:stretch>
        </p:blipFill>
        <p:spPr>
          <a:xfrm>
            <a:off x="9344000" y="2610101"/>
            <a:ext cx="7915300" cy="3861737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2026" name="tb"/>
          <p:cNvSpPr txBox="1"/>
          <p:nvPr/>
        </p:nvSpPr>
        <p:spPr>
          <a:xfrm>
            <a:off x="1028700" y="6591838"/>
            <a:ext cx="7915300" cy="5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700" b="0" i="1">
                <a:solidFill>
                  <a:srgbClr val="4D4D4D"/>
                </a:solidFill>
                <a:latin typeface="Calibri"/>
              </a:rPr>
              <a:t>Day 5: blame traced to the poisoned memory, score 1.00</a:t>
            </a:r>
          </a:p>
        </p:txBody>
      </p:sp>
      <p:sp>
        <p:nvSpPr>
          <p:cNvPr id="2027" name="tb"/>
          <p:cNvSpPr txBox="1"/>
          <p:nvPr/>
        </p:nvSpPr>
        <p:spPr>
          <a:xfrm>
            <a:off x="9344000" y="6591838"/>
            <a:ext cx="7915300" cy="5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700" b="0" i="1">
                <a:solidFill>
                  <a:srgbClr val="4D4D4D"/>
                </a:solidFill>
                <a:latin typeface="Calibri"/>
              </a:rPr>
              <a:t>One click: memory quarantined, node greyed, ledger updated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  <p:sp>
        <p:nvSpPr>
          <p:cNvPr id="2028" name="box"/>
          <p:cNvSpPr/>
          <p:nvPr/>
        </p:nvSpPr>
        <p:spPr>
          <a:xfrm>
            <a:off x="1028700" y="2610101"/>
            <a:ext cx="7915300" cy="1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b="1" i="0">
                <a:solidFill>
                  <a:srgbClr val="1A1A1A"/>
                </a:solidFill>
                <a:latin typeface="Calibri"/>
              </a:rPr>
              <a:t>100% → 0%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Attack success rate, plain vs. Sentinel mode</a:t>
            </a:r>
          </a:p>
        </p:txBody>
      </p:sp>
      <p:sp>
        <p:nvSpPr>
          <p:cNvPr id="2029" name="box"/>
          <p:cNvSpPr/>
          <p:nvPr/>
        </p:nvSpPr>
        <p:spPr>
          <a:xfrm>
            <a:off x="1028700" y="4360101"/>
            <a:ext cx="7915300" cy="1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b="1" i="0">
                <a:solidFill>
                  <a:srgbClr val="1A1A1A"/>
                </a:solidFill>
                <a:latin typeface="Calibri"/>
              </a:rPr>
              <a:t>0%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False block rate on 20 benign scenarios</a:t>
            </a:r>
          </a:p>
        </p:txBody>
      </p:sp>
      <p:sp>
        <p:nvSpPr>
          <p:cNvPr id="2030" name="box"/>
          <p:cNvSpPr/>
          <p:nvPr/>
        </p:nvSpPr>
        <p:spPr>
          <a:xfrm>
            <a:off x="1028700" y="6110101"/>
            <a:ext cx="7915300" cy="1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5DE0E6"/>
            </a:solidFill>
          </a:ln>
        </p:spPr>
        <p:txBody>
          <a:bodyPr anchor="ctr" anchorCtr="1" wrap="square" lIns="91440" rIns="91440" tIns="45720" bIns="45720"/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b="1" i="0">
                <a:solidFill>
                  <a:srgbClr val="1A1A1A"/>
                </a:solidFill>
                <a:latin typeface="Calibri"/>
              </a:rPr>
              <a:t>~12 ms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>
                <a:solidFill>
                  <a:srgbClr val="4D4D4D"/>
                </a:solidFill>
                <a:latin typeface="Calibri"/>
              </a:rPr>
              <a:t>Added latency per risky tool call</a:t>
            </a:r>
          </a:p>
        </p:txBody>
      </p:sp>
      <p:sp>
        <p:nvSpPr>
          <p:cNvPr id="2031" name="tb"/>
          <p:cNvSpPr txBox="1"/>
          <p:nvPr/>
        </p:nvSpPr>
        <p:spPr>
          <a:xfrm>
            <a:off x="9344000" y="2610101"/>
            <a:ext cx="7915300" cy="7176899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200" b="1" i="0">
                <a:solidFill>
                  <a:srgbClr val="1A1A1A"/>
                </a:solidFill>
                <a:latin typeface="Times"/>
              </a:rPr>
              <a:t>Limitations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100" b="0" i="0">
                <a:solidFill>
                  <a:srgbClr val="1A1A1A"/>
                </a:solidFill>
                <a:latin typeface="Calibri"/>
              </a:rPr>
              <a:t>Memory search is keyword overlap, not real embeddings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100" b="0" i="0">
                <a:solidFill>
                  <a:srgbClr val="1A1A1A"/>
                </a:solidFill>
                <a:latin typeface="Calibri"/>
              </a:rPr>
              <a:t>Tools are simulated — no real email or network IO</a:t>
            </a:r>
          </a:p>
          <a:p>
            <a:pPr marL="342900" indent="-34290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100" b="0" i="0">
                <a:solidFill>
                  <a:srgbClr val="1A1A1A"/>
                </a:solidFill>
                <a:latin typeface="Calibri"/>
              </a:rPr>
              <a:t>Graph/report history is in-memory, resets on restart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200" b="1" i="0">
                <a:solidFill>
                  <a:srgbClr val="1A1A1A"/>
                </a:solidFill>
                <a:latin typeface="Times"/>
              </a:rPr>
              <a:t>What’s Next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100" b="0" i="0">
                <a:solidFill>
                  <a:srgbClr val="1A1A1A"/>
                </a:solidFill>
                <a:latin typeface="Calibri"/>
              </a:rPr>
              <a:t>Real semantic retrieval over the memory ledger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100" b="0" i="0">
                <a:solidFill>
                  <a:srgbClr val="1A1A1A"/>
                </a:solidFill>
                <a:latin typeface="Calibri"/>
              </a:rPr>
              <a:t>Soft, drift-based risk scoring alongside hard taint rules</a:t>
            </a: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100" b="0" i="0">
                <a:solidFill>
                  <a:srgbClr val="1A1A1A"/>
                </a:solidFill>
                <a:latin typeface="Calibri"/>
              </a:rPr>
              <a:t>Persistent action history for /graph and /report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